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b73fc8181f4639" /><Relationship Type="http://schemas.openxmlformats.org/officeDocument/2006/relationships/extended-properties" Target="/docProps/app.xml" Id="R175efe1b6bc34519" /><Relationship Type="http://schemas.openxmlformats.org/officeDocument/2006/relationships/officeDocument" Target="/ppt/presentation.xml" Id="Rcb95a09692cc42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98639741534567"/>
  </p:sldMasterIdLst>
  <p:notesMasterIdLst>
    <p:notesMasterId xmlns:r="http://schemas.openxmlformats.org/officeDocument/2006/relationships" r:id="Ra1697f3b7a7e4772"/>
  </p:notesMasterIdLst>
  <p:sldIdLst>
    <p:sldId xmlns:r="http://schemas.openxmlformats.org/officeDocument/2006/relationships" id="256" r:id="R6b0787e824924fd1"/>
    <p:sldId xmlns:r="http://schemas.openxmlformats.org/officeDocument/2006/relationships" id="257" r:id="R4039843a6543455d"/>
    <p:sldId xmlns:r="http://schemas.openxmlformats.org/officeDocument/2006/relationships" id="258" r:id="R951681074e4b49a6"/>
    <p:sldId xmlns:r="http://schemas.openxmlformats.org/officeDocument/2006/relationships" id="259" r:id="R4aab8ae82cd44455"/>
    <p:sldId xmlns:r="http://schemas.openxmlformats.org/officeDocument/2006/relationships" id="260" r:id="Rb828fe2622f843cf"/>
    <p:sldId xmlns:r="http://schemas.openxmlformats.org/officeDocument/2006/relationships" id="261" r:id="R560a34a69eca46d0"/>
    <p:sldId xmlns:r="http://schemas.openxmlformats.org/officeDocument/2006/relationships" id="262" r:id="Ree715709ddc74619"/>
    <p:sldId xmlns:r="http://schemas.openxmlformats.org/officeDocument/2006/relationships" id="263" r:id="R1319549711134417"/>
    <p:sldId xmlns:r="http://schemas.openxmlformats.org/officeDocument/2006/relationships" id="264" r:id="Rb1f63c0bb0ff40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782d86d3d84324" /><Relationship Type="http://schemas.openxmlformats.org/officeDocument/2006/relationships/slideMaster" Target="/ppt/slideMasters/slideMaster1.xml" Id="R7398639741534567" /><Relationship Type="http://schemas.openxmlformats.org/officeDocument/2006/relationships/notesMaster" Target="/ppt/notesMasters/notesMaster1.xml" Id="Ra1697f3b7a7e4772" /><Relationship Type="http://schemas.openxmlformats.org/officeDocument/2006/relationships/presProps" Target="/ppt/presProps.xml" Id="Rb99fd96e78c7405a" /><Relationship Type="http://schemas.openxmlformats.org/officeDocument/2006/relationships/tableStyles" Target="/ppt/tableStyles.xml" Id="R1e62bc0ab06148da" /><Relationship Type="http://schemas.openxmlformats.org/officeDocument/2006/relationships/slide" Target="/ppt/slides/slide1.xml" Id="R6b0787e824924fd1" /><Relationship Type="http://schemas.openxmlformats.org/officeDocument/2006/relationships/slide" Target="/ppt/slides/slide2.xml" Id="R4039843a6543455d" /><Relationship Type="http://schemas.openxmlformats.org/officeDocument/2006/relationships/slide" Target="/ppt/slides/slide3.xml" Id="R951681074e4b49a6" /><Relationship Type="http://schemas.openxmlformats.org/officeDocument/2006/relationships/slide" Target="/ppt/slides/slide4.xml" Id="R4aab8ae82cd44455" /><Relationship Type="http://schemas.openxmlformats.org/officeDocument/2006/relationships/slide" Target="/ppt/slides/slide5.xml" Id="Rb828fe2622f843cf" /><Relationship Type="http://schemas.openxmlformats.org/officeDocument/2006/relationships/slide" Target="/ppt/slides/slide6.xml" Id="R560a34a69eca46d0" /><Relationship Type="http://schemas.openxmlformats.org/officeDocument/2006/relationships/slide" Target="/ppt/slides/slide7.xml" Id="Ree715709ddc74619" /><Relationship Type="http://schemas.openxmlformats.org/officeDocument/2006/relationships/slide" Target="/ppt/slides/slide8.xml" Id="R1319549711134417" /><Relationship Type="http://schemas.openxmlformats.org/officeDocument/2006/relationships/slide" Target="/ppt/slides/slide9.xml" Id="Rb1f63c0bb0ff40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d70bcc071b4b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43e93f3d0d45b7" /><Relationship Type="http://schemas.openxmlformats.org/officeDocument/2006/relationships/notesMaster" Target="/ppt/notesMasters/notesMaster1.xml" Id="R681b2511ba6b49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1227338a744382" /><Relationship Type="http://schemas.openxmlformats.org/officeDocument/2006/relationships/notesMaster" Target="/ppt/notesMasters/notesMaster1.xml" Id="Rcea282e96c7f4e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208b6ee83b45b6" /><Relationship Type="http://schemas.openxmlformats.org/officeDocument/2006/relationships/notesMaster" Target="/ppt/notesMasters/notesMaster1.xml" Id="R1118d04c123044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13c359b20a463f" /><Relationship Type="http://schemas.openxmlformats.org/officeDocument/2006/relationships/notesMaster" Target="/ppt/notesMasters/notesMaster1.xml" Id="Rd5f0df4638294c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096ad3e5964c99" /><Relationship Type="http://schemas.openxmlformats.org/officeDocument/2006/relationships/notesMaster" Target="/ppt/notesMasters/notesMaster1.xml" Id="R3f871a813c3a4e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f5108924d94a35" /><Relationship Type="http://schemas.openxmlformats.org/officeDocument/2006/relationships/notesMaster" Target="/ppt/notesMasters/notesMaster1.xml" Id="R0a4c498993e848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6b2dc3bc7d4ff4" /><Relationship Type="http://schemas.openxmlformats.org/officeDocument/2006/relationships/notesMaster" Target="/ppt/notesMasters/notesMaster1.xml" Id="Rab9fb3e5346a4c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3aa26057324d63" /><Relationship Type="http://schemas.openxmlformats.org/officeDocument/2006/relationships/notesMaster" Target="/ppt/notesMasters/notesMaster1.xml" Id="R65ce4a24db7745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92e9a1a49a46c5" /><Relationship Type="http://schemas.openxmlformats.org/officeDocument/2006/relationships/notesMaster" Target="/ppt/notesMasters/notesMaster1.xml" Id="Re7d0943bacb4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범위: @realDonaldTrump의 Truth Social 게시물. 원문 보고서: 트럼프_Truth_Social_Korea_Steel_분석보고서.md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Trump’s Truth 2025-04-08, 2025-07-30, 2025-10-29 게시물. USITC 2023-03-15. White House 2025-11-13.</a:t>
            </a:r>
          </a:p>
          <a:p xmlns:a="http://schemas.openxmlformats.org/drawingml/2006/main">
            <a:r>
              <a:t>https://www.trumpstruth.org/statuses/30570</a:t>
            </a:r>
          </a:p>
          <a:p xmlns:a="http://schemas.openxmlformats.org/drawingml/2006/main">
            <a:r>
              <a:t>https://www.usitc.gov/press_room/news_release/2023/er0315_63679.htm</a:t>
            </a:r>
          </a:p>
          <a:p xmlns:a="http://schemas.openxmlformats.org/drawingml/2006/main">
            <a:r>
              <a:t>https://www.whitehouse.gov/fact-sheets/2025/11/joint-fact-sheet-on-president-donald-j-trumps-meeting-with-president-lee-jae-myung/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계산 기준: 2026-10-06 Trump’s Truth 검색면 전수 확인. @realDonaldTrump 작성 본문에 완전한 단어 Korea 또는 Steel이 있는 게시 사건. 링크 제목, 영상 전사, 이미지 설명에만 있는 결과는 제외. 공식 전량 내보내기와 대조하지 못했으므로 모집단 전수치는 미확인.</a:t>
            </a:r>
          </a:p>
          <a:p xmlns:a="http://schemas.openxmlformats.org/drawingml/2006/main">
            <a:r>
              <a:t>https://www.trumpstruth.org/about</a:t>
            </a:r>
          </a:p>
          <a:p xmlns:a="http://schemas.openxmlformats.org/drawingml/2006/main">
            <a:r>
              <a:t>https://www.trumpstruth.org/faq</a:t>
            </a:r>
          </a:p>
          <a:p xmlns:a="http://schemas.openxmlformats.org/drawingml/2006/main">
            <a:r>
              <a:t>https://www.trumpstruth.org/search?query=Korea</a:t>
            </a:r>
          </a:p>
          <a:p xmlns:a="http://schemas.openxmlformats.org/drawingml/2006/main">
            <a:r>
              <a:t>https://www.trumpstruth.org/search?query=Steel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Donald J. Trump, 2025-05-30 steel tariffs post and Shanghai/Pittsburgh post. Hyundai Steel, 2026-09-05 Louisiana EAF mill project.</a:t>
            </a:r>
          </a:p>
          <a:p xmlns:a="http://schemas.openxmlformats.org/drawingml/2006/main">
            <a:r>
              <a:t>https://www.trumpstruth.org/statuses/31310</a:t>
            </a:r>
          </a:p>
          <a:p xmlns:a="http://schemas.openxmlformats.org/drawingml/2006/main">
            <a:r>
              <a:t>https://www.trumpstruth.org/statuses/31311</a:t>
            </a:r>
          </a:p>
          <a:p xmlns:a="http://schemas.openxmlformats.org/drawingml/2006/main">
            <a:r>
              <a:t>https://org-htwo.hyundai.com/en/worldwide/press-releases/article/hyundai-steel-hpls-electric-arc-furnace-groundbreaking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U.S. International Trade Commission, 2018~2021 Section 232 retrospective estimates, 2023-03-15. 이 수치는 경제 전체 순편익이 아니라 직접 영향 업종의 단기 효과이다.</a:t>
            </a:r>
          </a:p>
          <a:p xmlns:a="http://schemas.openxmlformats.org/drawingml/2006/main">
            <a:r>
              <a:t>https://www.usitc.gov/press_room/news_release/2023/er0315_63679.htm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Trump’s Truth 2025-04-08 ONE STOP SHOPPING post. White House 2025-10-29 Korea state visit deals and 2025-11-13 joint fact sheet.</a:t>
            </a:r>
          </a:p>
          <a:p xmlns:a="http://schemas.openxmlformats.org/drawingml/2006/main">
            <a:r>
              <a:t>https://www.trumpstruth.org/statuses/30570</a:t>
            </a:r>
          </a:p>
          <a:p xmlns:a="http://schemas.openxmlformats.org/drawingml/2006/main">
            <a:r>
              <a:t>https://www.whitehouse.gov/fact-sheets/2025/10/fact-sheet-president-donald-j-trump-brings-home-more-billion-dollar-deals-during-state-visit-to-the-republic-of-korea/</a:t>
            </a:r>
          </a:p>
          <a:p xmlns:a="http://schemas.openxmlformats.org/drawingml/2006/main">
            <a:r>
              <a:t>https://www.whitehouse.gov/fact-sheets/2025/11/joint-fact-sheet-on-president-donald-j-trumps-meeting-with-president-lee-jae-myung/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Trump’s Truth posts dated 2025-04-08, 2025-08-25, 2025-10-29, 2026-01-26.</a:t>
            </a:r>
          </a:p>
          <a:p xmlns:a="http://schemas.openxmlformats.org/drawingml/2006/main">
            <a:r>
              <a:t>https://www.trumpstruth.org/statuses/30570</a:t>
            </a:r>
          </a:p>
          <a:p xmlns:a="http://schemas.openxmlformats.org/drawingml/2006/main">
            <a:r>
              <a:t>https://www.trumpstruth.org/statuses/32723</a:t>
            </a:r>
          </a:p>
          <a:p xmlns:a="http://schemas.openxmlformats.org/drawingml/2006/main">
            <a:r>
              <a:t>https://www.trumpstruth.org/statuses/33488</a:t>
            </a:r>
          </a:p>
          <a:p xmlns:a="http://schemas.openxmlformats.org/drawingml/2006/main">
            <a:r>
              <a:t>https://www.trumpstruth.org/statuses/34629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White House steel tariff proclamation 2025-06-03. Hyundai Steel Louisiana project 2026-09-05. White House Korea state visit deals 2025-10-29. Trump’s Truth Korea tariff post 2026-01-26.</a:t>
            </a:r>
          </a:p>
          <a:p xmlns:a="http://schemas.openxmlformats.org/drawingml/2006/main">
            <a:r>
              <a:t>https://www.whitehouse.gov/presidential-actions/2025/06/adjusting-imports-of-aluminum-and-steel-into-the-united-states/</a:t>
            </a:r>
          </a:p>
          <a:p xmlns:a="http://schemas.openxmlformats.org/drawingml/2006/main">
            <a:r>
              <a:t>https://org-htwo.hyundai.com/en/worldwide/press-releases/article/hyundai-steel-hpls-electric-arc-furnace-groundbreaking</a:t>
            </a:r>
          </a:p>
          <a:p xmlns:a="http://schemas.openxmlformats.org/drawingml/2006/main">
            <a:r>
              <a:t>https://www.whitehouse.gov/fact-sheets/2025/10/fact-sheet-president-donald-j-trump-brings-home-more-billion-dollar-deals-during-state-visit-to-the-republic-of-korea/</a:t>
            </a:r>
          </a:p>
          <a:p xmlns:a="http://schemas.openxmlformats.org/drawingml/2006/main">
            <a:r>
              <a:t>https://www.trumpstruth.org/statuses/34629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출처와 방법론은 원문 보고서 및 GitHub Pages에서 확인.</a:t>
            </a:r>
          </a:p>
          <a:p xmlns:a="http://schemas.openxmlformats.org/drawingml/2006/main">
            <a:r>
              <a:t>https://eunred.github.io/Trump-Interest/</a:t>
            </a:r>
          </a:p>
          <a:p xmlns:a="http://schemas.openxmlformats.org/drawingml/2006/main">
            <a:r>
              <a:t>주요 출처: Trump’s Truth archive, U.S. International Trade Commission, Federal Reserve Board, White House, Hyundai Steel, World Steel Association.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7feda58fc46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50a0a9a87b4517" /><Relationship Type="http://schemas.openxmlformats.org/officeDocument/2006/relationships/slideLayout" Target="/ppt/slideLayouts/slideLayout1.xml" Id="R848b9d13f5184d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8b9d13f5184d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0eec8998242ff" /><Relationship Type="http://schemas.openxmlformats.org/officeDocument/2006/relationships/notesSlide" Target="/ppt/notesSlides/notesSlide1.xml" Id="Re3a167b25a1d4d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e034404ef4167" /><Relationship Type="http://schemas.openxmlformats.org/officeDocument/2006/relationships/notesSlide" Target="/ppt/notesSlides/notesSlide2.xml" Id="R68a8497cba3a49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535c4081e4581" /><Relationship Type="http://schemas.openxmlformats.org/officeDocument/2006/relationships/chart" Target="/ppt/slides/charts/chart1.xml" Id="R2ac1783799c4435f" /><Relationship Type="http://schemas.openxmlformats.org/officeDocument/2006/relationships/notesSlide" Target="/ppt/notesSlides/notesSlide3.xml" Id="R081341ace54444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2aac196d54c79" /><Relationship Type="http://schemas.openxmlformats.org/officeDocument/2006/relationships/notesSlide" Target="/ppt/notesSlides/notesSlide4.xml" Id="R83a0875abced44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8cb81bb794c22" /><Relationship Type="http://schemas.openxmlformats.org/officeDocument/2006/relationships/chart" Target="/ppt/slides/charts/chart2.xml" Id="R77b9926255114e31" /><Relationship Type="http://schemas.openxmlformats.org/officeDocument/2006/relationships/notesSlide" Target="/ppt/notesSlides/notesSlide5.xml" Id="R6bedc7d80aee42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09284552247fc" /><Relationship Type="http://schemas.openxmlformats.org/officeDocument/2006/relationships/notesSlide" Target="/ppt/notesSlides/notesSlide6.xml" Id="Rd870721e481c48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bc00d16c5403e" /><Relationship Type="http://schemas.openxmlformats.org/officeDocument/2006/relationships/notesSlide" Target="/ppt/notesSlides/notesSlide7.xml" Id="R72036ac5508145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352f4c36e4a53" /><Relationship Type="http://schemas.openxmlformats.org/officeDocument/2006/relationships/notesSlide" Target="/ppt/notesSlides/notesSlide8.xml" Id="R12010facce474e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643ee782b4dac" /><Relationship Type="http://schemas.openxmlformats.org/officeDocument/2006/relationships/notesSlide" Target="/ppt/notesSlides/notesSlide9.xml" Id="R364eb9cc106a41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Korea 게시 사건</c:v>
          </c:tx>
          <c:spPr>
            <a:solidFill xmlns:a="http://schemas.openxmlformats.org/drawingml/2006/main">
              <a:srgbClr val="275D8C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23</c:v>
                </c:pt>
                <c:pt idx="4">
                  <c:v>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33F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D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2018~2021년 효과</c:v>
          </c:tx>
          <c:spPr>
            <a:solidFill xmlns:a="http://schemas.openxmlformats.org/drawingml/2006/main">
              <a:srgbClr val="275D8C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A5292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B46A1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F6F5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A5292A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철강 수입</c:v>
                </c:pt>
                <c:pt idx="1">
                  <c:v>철강 가격</c:v>
                </c:pt>
                <c:pt idx="2">
                  <c:v>철강 생산</c:v>
                </c:pt>
                <c:pt idx="3">
                  <c:v>하류산업 생산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-24</c:v>
                </c:pt>
                <c:pt idx="1">
                  <c:v>2.4</c:v>
                </c:pt>
                <c:pt idx="2">
                  <c:v>1.9</c:v>
                </c:pt>
                <c:pt idx="3">
                  <c:v>-0.6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33F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DE6"/>
              </a:solidFill>
              <a:prstDash val="solid"/>
            </a:ln>
          </c:spPr>
        </c:majorGridlines>
        <c:numFmt formatCode="0.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E90FD-DDD6-4384-9CD2-561798EB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9EC7D-4115-45E3-B9A2-18CB60F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990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트럼프의 Korea·Steel 게시물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22B05-25C7-4D2A-B502-3E50DC01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8E3E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D8E3EF"/>
                </a:solidFill>
                <a:latin typeface="Malgun Gothic"/>
                <a:ea typeface="Malgun Gothic"/>
                <a:cs typeface="Malgun Gothic"/>
              </a:rPr>
              <a:t>한국 철강의 미국 산업 내 역할과 관계의 온도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68265-D68A-4A73-8C1D-F5E80862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D2734-27A1-49BF-A41E-ECCE49F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7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C7D8"/>
                </a:solidFill>
                <a:latin typeface="Malgun Gothic"/>
                <a:ea typeface="Malgun Gothic"/>
                <a:cs typeface="Malgun Gothic"/>
              </a:rPr>
              <a:t>Truth Social 게시물 분석</a:t>
            </a:r>
          </a:p>
          <a:p xmlns:a="http://schemas.openxmlformats.org/drawingml/2006/main">
            <a:pPr algn="l">
              <a:defRPr sz="1500" b="0">
                <a:solidFill>
                  <a:srgbClr val="B9C7D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B9C7D8"/>
                </a:solidFill>
                <a:latin typeface="Malgun Gothic"/>
                <a:ea typeface="Malgun Gothic"/>
                <a:cs typeface="Malgun Gothic"/>
              </a:rPr>
              <a:t>2022.02.14 ~ 2026.10.06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05349-5D78-4707-AF41-B8E40BC0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829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B9C7D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B9C7D8"/>
                </a:solidFill>
                <a:latin typeface="Malgun Gothic"/>
                <a:ea typeface="Malgun Gothic"/>
                <a:cs typeface="Malgun Gothic"/>
              </a:rPr>
              <a:t>의사결정용 요약</a:t>
            </a:r>
          </a:p>
        </p:txBody>
      </p:sp>
    </p:spTree>
    <p:extLst>
      <p:ext uri="{BB962C8B-B14F-4D97-AF65-F5344CB8AC3E}">
        <p14:creationId xmlns:p14="http://schemas.microsoft.com/office/powerpoint/2010/main" val="689086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C2846-AE1C-40D6-81F4-8055338F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C7332-C82F-4F89-B487-BCB1CA2D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핵심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B09979-BE88-4FBF-819B-8F7EF49C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한국은 수출국보다 미국 생산능력을 보완하는 파트너로 쓰인다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C58E9-9D60-4580-BB56-C1912AEC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EF215-7197-4551-BE07-F75EDB26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9890E-9FE9-4236-9F30-C1F23B0C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954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철강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6B7E0-2C53-417F-8293-CC55CDC6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한국 철강의 가치는 미국 안에서 생산될 때 커진다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812D4-46F8-4FDD-849A-FA4542B5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3365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34173-17A0-4175-9E13-53DB18C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3ABFE-1C54-4AE6-914E-5E6BB01F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7657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산업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DDABC-3766-4F5A-9B83-9C659A45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7657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철강 보호의 이익과 제조업 원가 부담은 동시에 발생한다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85D26-3339-4E38-A838-F7B5E626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147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DC5BF-CA36-447B-AE42-960B5622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9DA80-00C7-4F69-A229-ACCC87FD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577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관계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0E049-166D-4DB2-BDBD-8E940A9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577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친근함은 투자·구매·안보 이행 뒤에 강해진다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79255-2A2C-4A03-83AB-6C2E165F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95900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58962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59A0D-C9D6-43CF-93FD-46C2D78C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D6428-C8A8-45E8-89DB-79126807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게시물 표본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15AAA-CEEE-4D47-A7F3-B658CA2D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검색 결과에서 트럼프 작성 본문과 산업 의미를 분리했다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2FDC7-2604-4D22-86DF-A9C818FF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5FE75-6F63-4A77-9FD4-2DD8B09C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75D8C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75D8C"/>
                </a:solidFill>
                <a:latin typeface="Malgun Gothic"/>
                <a:ea typeface="Malgun Gothic"/>
                <a:cs typeface="Malgun Gothic"/>
              </a:rPr>
              <a:t>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95CAF-7B8D-47A6-A6DF-EE10B130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Korea 본문 완전일치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72C04-0D2F-4DDD-BE4F-8B7C7BE8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669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FA846-F0EE-4DE1-9BFB-3A7D97B2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Steel 본문 완전일치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9E4E6-98CE-445A-8CFC-6D4C4C65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669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2C41C-8B8B-43AB-8E17-AA789EC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Steel 산업 의미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CC326-A792-431A-B8AA-F401D07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228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7B978-DDA5-4338-82C2-C541F01C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2025년 Korea 사건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95350" y="3714750"/>
          <a:ext xmlns:a="http://schemas.openxmlformats.org/drawingml/2006/main" cx="100965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c1783799c4435f"/>
          </a:graphicData>
        </a:graphic>
      </p:graphicFrame>
    </p:spTree>
    <p:extLst>
      <p:ext uri="{BB962C8B-B14F-4D97-AF65-F5344CB8AC3E}">
        <p14:creationId xmlns:p14="http://schemas.microsoft.com/office/powerpoint/2010/main" val="1327507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64FF8-B9B7-4D05-8CF3-4E55AB1B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1BEB7-D6AF-4326-BC3B-A4A68E5E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철강을 보는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A95BB-5A9F-4C28-9EB1-1BCBB383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국적보다 생산지와 통제권이 앞선다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2F7B5-8DEC-4A1F-9450-39E72914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C16EF-5575-46B4-A66A-E8150DC1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762500" cy="38100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EE575-8A60-48DA-AF3E-A89EC103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24000"/>
            <a:ext cx="4762500" cy="3810000"/>
          </a:xfrm>
          <a:prstGeom xmlns:a="http://schemas.openxmlformats.org/drawingml/2006/main" prst="roundRect">
            <a:avLst>
              <a:gd name="adj" fmla="val 4500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D1802-09A2-4D5E-9753-23AE958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57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미국 안에서 생산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D702F-54A9-4EB2-BB8D-CE08B569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14625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HPLS 루이지애나 제철소</a:t>
            </a:r>
          </a:p>
          <a:p xmlns:a="http://schemas.openxmlformats.org/drawingml/2006/main">
            <a:pPr algn="ctr">
              <a:def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58억 달러 투자</a:t>
            </a:r>
          </a:p>
          <a:p xmlns:a="http://schemas.openxmlformats.org/drawingml/2006/main">
            <a:pPr algn="ctr">
              <a:def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연 270만 톤 계획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E7CAD-8925-470E-92FC-7060155A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2190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2F6F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활용 자산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439C5-35FD-45AA-854E-6EB44143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573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미국 밖에서 수입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2096F-A0FE-40AE-897A-AF57CAFE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14625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철강·알루미늄 관세</a:t>
            </a:r>
          </a:p>
          <a:p xmlns:a="http://schemas.openxmlformats.org/drawingml/2006/main">
            <a:pPr algn="ctr">
              <a:def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25%에서 50%</a:t>
            </a:r>
          </a:p>
          <a:p xmlns:a="http://schemas.openxmlformats.org/drawingml/2006/main">
            <a:pPr algn="ctr">
              <a:def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상하이보다 피츠버그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56D5E-699C-435B-A466-FE7D2702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91050"/>
            <a:ext cx="2190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압박 대상</a:t>
            </a:r>
          </a:p>
        </p:txBody>
      </p:sp>
    </p:spTree>
    <p:extLst>
      <p:ext uri="{BB962C8B-B14F-4D97-AF65-F5344CB8AC3E}">
        <p14:creationId xmlns:p14="http://schemas.microsoft.com/office/powerpoint/2010/main" val="111370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9D993-FC95-4560-997C-1DFE2825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54638-045A-4BD0-A6DC-9CDDE8BB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미국 산업 효과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6BF49-D9E2-4EA7-98FB-F825F455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제철 생산은 늘고 하류 제조업 비용은 오른다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82FC7-7908-40AB-96D4-F5FFD969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81050" y="1524000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b9926255114e3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EE1E2-9AB2-4DAD-A266-FA5221B8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+$1.3B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170BD-15E1-40CD-8C92-4E095AF8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2021년 철강 생산액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2F46D-D9DE-4546-A6CA-77DEDB4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B9252-59F2-43C7-BCED-3B6F1D87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-$3.5B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1D4A7-7EE8-40D2-B5C5-203167C6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2021년 하류산업 생산액</a:t>
            </a:r>
          </a:p>
        </p:txBody>
      </p:sp>
    </p:spTree>
    <p:extLst>
      <p:ext uri="{BB962C8B-B14F-4D97-AF65-F5344CB8AC3E}">
        <p14:creationId xmlns:p14="http://schemas.microsoft.com/office/powerpoint/2010/main" val="1862728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7501C-55F7-4226-84F0-0C8B8D33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53EF4-619B-4F0A-9666-D18EA813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한국의 활용도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D8D20-6BEB-41FD-ABC6-41CCFFA9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트럼프의 한국은 미국 산업의 빈칸을 채우는 묶음 자산이다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EA6D0-D314-4A8F-819D-EFBD760F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EE66C-50AF-432A-B81F-51B74FEB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362200" cy="30480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1D81D-8880-459C-95FB-DC712FD0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3622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575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6FA07-8255-490E-877D-07919BB7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철강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F65BC-5FD4-4905-817E-3500D25D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자동차강판</a:t>
            </a:r>
          </a:p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현지 공급망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5F3B6-93E8-4ADA-96F1-54404C1E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05000"/>
            <a:ext cx="2362200" cy="30480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F64D3-1973-4499-9464-C8067CF6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05000"/>
            <a:ext cx="23622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7D890-BD22-410B-BE2C-8488717B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003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조선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54E3F-5586-4F12-ACE2-03D53531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미국 조선소</a:t>
            </a:r>
          </a:p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설비·생산성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BA48A0-6386-408A-AC55-0E472E43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05000"/>
            <a:ext cx="2362200" cy="30480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A1AD1-F588-4911-B904-1D5BA67F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05000"/>
            <a:ext cx="23622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35DC1-2D52-4216-A461-DC4EA9F2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에너지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4EF24C-8259-4EE4-9FDF-3065C848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LNG 구매</a:t>
            </a:r>
          </a:p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원전연료·전력망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709FD1-A6EF-4F04-89DC-8E4421E6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05000"/>
            <a:ext cx="2362200" cy="30480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AA25D-1139-49F9-B1E8-C0145DD1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05000"/>
            <a:ext cx="23622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6A1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75004-397B-4FCE-A983-3D8C03B4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0300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항공·광물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AD815-E4C1-42B0-9EF4-AC15CB3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Boeing·GE 구매</a:t>
            </a:r>
          </a:p>
          <a:p xmlns:a="http://schemas.openxmlformats.org/drawingml/2006/main">
            <a:pPr algn="ctr">
              <a:def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희토류 정제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E98F5-6241-44AF-8CC2-65C7443E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911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한 번의 협상에서 산업·통상·안보를 함께 다룬다</a:t>
            </a:r>
          </a:p>
        </p:txBody>
      </p:sp>
    </p:spTree>
    <p:extLst>
      <p:ext uri="{BB962C8B-B14F-4D97-AF65-F5344CB8AC3E}">
        <p14:creationId xmlns:p14="http://schemas.microsoft.com/office/powerpoint/2010/main" val="334434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AF550-6E5F-43B8-91B6-C0282EE3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434F3-D1FE-4619-9704-F80CE6DA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관계의 온도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0A0E0-BD24-4121-AAE3-63C4C697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우호 표현은 거래와 이행 시점에 따라 빠르게 바뀐다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A02C5-2B7D-436D-BEF1-80B8399C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5BE0F-B86D-4E74-AD42-B3141A9B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E929D-E7E8-41E9-8117-4C089A44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718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C45A6-E815-49A3-B845-BD30628F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2025.04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B08E0-5162-4E51-BCB6-B22C5DCB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5D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75D8C"/>
                </a:solidFill>
                <a:latin typeface="Malgun Gothic"/>
                <a:ea typeface="Malgun Gothic"/>
                <a:cs typeface="Malgun Gothic"/>
              </a:rPr>
              <a:t>협상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A8C46-B19F-4033-A418-1D80A8D3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ONE STOP</a:t>
            </a:r>
          </a:p>
          <a:p xmlns:a="http://schemas.openxmlformats.org/drawingml/2006/main">
            <a:pPr algn="ctr">
              <a:def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SHOPPING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A552C-B4EC-428F-82FB-27731B5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B8911-3B6F-46FF-AD1B-AB9BB6F8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052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2025.08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98A9B-0D05-4204-8645-2CE96D5D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67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압박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117A3-3E06-4070-BAC8-C9168ADA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사업할 수</a:t>
            </a:r>
          </a:p>
          <a:p xmlns:a="http://schemas.openxmlformats.org/drawingml/2006/main">
            <a:pPr algn="ctr">
              <a:def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없다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708A0-EA03-44BB-802B-D59E01E0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718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5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C9C5C-A1F7-48EB-964F-E5E4AF5F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2025.10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CBD91-57A2-4F8A-9EDB-E00DFE90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146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6F5E"/>
                </a:solidFill>
                <a:latin typeface="Malgun Gothic"/>
                <a:ea typeface="Malgun Gothic"/>
                <a:cs typeface="Malgun Gothic"/>
              </a:rPr>
              <a:t>우호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00ADC-C92F-4E76-A913-154F2CE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소중한 친구</a:t>
            </a:r>
          </a:p>
          <a:p xmlns:a="http://schemas.openxmlformats.org/drawingml/2006/main">
            <a:pPr algn="ctr">
              <a:def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가까운 동맹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E5572-9B12-4600-86BD-BC886A16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718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21EAF-A2FB-4476-A94D-6E59247B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052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2026.01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CDE1BC-4DC2-43C7-9BFF-E5B17A56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672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압박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FBCE7-9DE1-42C1-B79D-AAC6A54F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관세 15%에서</a:t>
            </a:r>
          </a:p>
          <a:p xmlns:a="http://schemas.openxmlformats.org/drawingml/2006/main">
            <a:pPr algn="ctr">
              <a:def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2230"/>
                </a:solidFill>
                <a:latin typeface="Malgun Gothic"/>
                <a:ea typeface="Malgun Gothic"/>
                <a:cs typeface="Malgun Gothic"/>
              </a:rPr>
              <a:t>25%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DAE40-7D5A-4E8D-B29F-7F8E06C5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친근함 = 감정의 상수보다 이행 성과의 함수</a:t>
            </a:r>
          </a:p>
        </p:txBody>
      </p:sp>
    </p:spTree>
    <p:extLst>
      <p:ext uri="{BB962C8B-B14F-4D97-AF65-F5344CB8AC3E}">
        <p14:creationId xmlns:p14="http://schemas.microsoft.com/office/powerpoint/2010/main" val="326001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262AE-2142-4C02-84D7-7382B39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AF36D-1974-4FDD-ABE4-3915003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시장 판도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69BC0-F9A1-4ADB-85EB-55E642B5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세 동인이 미국 안의 생산자와 미국 밖의 공급자를 가른다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25A5E-7F71-49F0-9012-A7764BC6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619500"/>
                <a:gridCol w="4629150"/>
              </a:tblGrid>
              <a:tr h="928688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동인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이기는 쪽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부담이 커지는 쪽</a:t>
                      </a:r>
                    </a:p>
                  </a:txBody>
                  <a:tcPr marL="91440" marR="91440" marT="45720" marB="45720">
                    <a:solidFill>
                      <a:srgbClr val="10233F"/>
                    </a:solidFill>
                  </a:tcPr>
                </a:tc>
              </a:tr>
              <a:tr h="928688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철강 관세 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HPLS 루이지애나 제철소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A529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 생산 미국 수출분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A529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철강 다소비 제조업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현지화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HPLS·한화오션·HD현대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A529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밖 생산만 유지하는 공급자</a:t>
                      </a:r>
                    </a:p>
                  </a:txBody>
                  <a:tcPr marL="91440" marR="91440" marT="45720" marB="45720">
                    <a:solidFill>
                      <a:srgbClr val="F3F6F9"/>
                    </a:solidFill>
                  </a:tcPr>
                </a:tc>
              </a:tr>
              <a:tr h="928688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산업 묶음 협상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Boeing·GE·Centrus</a:t>
                      </a:r>
                    </a:p>
                    <a:p>
                      <a:pPr algn="ctr"/>
                      <a:r>
                        <a:rPr sz="1275" b="0">
                          <a:solidFill>
                            <a:srgbClr val="1822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미국 투자 한국 기업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A529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합의 지연 시 한국산 자동차 수출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453FF-05CA-49E8-8576-0801776C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578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판정 기준은 기업 국적보다 미국 내 생산·고용·구매의 속도이다</a:t>
            </a:r>
          </a:p>
        </p:txBody>
      </p:sp>
    </p:spTree>
    <p:extLst>
      <p:ext uri="{BB962C8B-B14F-4D97-AF65-F5344CB8AC3E}">
        <p14:creationId xmlns:p14="http://schemas.microsoft.com/office/powerpoint/2010/main" val="1916178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F44A2-B16E-42CD-905C-85C2B4B4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7656A-D8AD-4694-85EA-3E5F812A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판단에 남길 세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0CD1F-477B-42B7-94BD-336E401E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531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5758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71FF9-6846-4037-899A-E7F0E40D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71DBB-D13D-4F82-B5B1-0E703B04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02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한국 철강의 대미 가치는 현지 생산과 자동차 공급망에서 커진다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7AB4F-DE1D-43D1-91C6-7F1D6A00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D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F94DF-0935-4A63-AE18-0BE0998B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575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철강 생산 증가와 하류 제조업의 비용 상승을 분리해 봐야 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BE539-6B41-46C6-A1BC-6853B6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6858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529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6B251-9E1A-4D85-93E8-0FEFD542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148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한국에 대한 친근함은 투자·구매·안보 이행 뒤에 강화된다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BF3A6-ADDA-440C-AFC1-CC56A009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054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A5292A"/>
                </a:solidFill>
                <a:latin typeface="Malgun Gothic"/>
                <a:ea typeface="Malgun Gothic"/>
                <a:cs typeface="Malgun Gothic"/>
              </a:rPr>
              <a:t>한계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F3637-5984-40F6-9A91-A92015C4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864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D6B7C"/>
                </a:solidFill>
                <a:latin typeface="Malgun Gothic"/>
                <a:ea typeface="Malgun Gothic"/>
                <a:cs typeface="Malgun Gothic"/>
              </a:rPr>
              <a:t>빈도는 제3자 아카이브 기준이며 Truth Social 공식 전량 내보내기와 대조하지 못했다</a:t>
            </a:r>
          </a:p>
        </p:txBody>
      </p:sp>
    </p:spTree>
    <p:extLst>
      <p:ext uri="{BB962C8B-B14F-4D97-AF65-F5344CB8AC3E}">
        <p14:creationId xmlns:p14="http://schemas.microsoft.com/office/powerpoint/2010/main" val="905634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2026-10-06T14:53:57.1760000Z</dcterms:created>
  <dcterms:modified xsi:type="dcterms:W3CDTF">2026-10-06T14:53:57.1760000Z</dcterms:modified>
</coreProperties>
</file>